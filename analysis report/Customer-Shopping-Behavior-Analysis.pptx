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Funnel Display" panose="020B0604020202020204" charset="0"/>
      <p:regular r:id="rId13"/>
    </p:embeddedFont>
    <p:embeddedFont>
      <p:font typeface="Funnel Sans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5691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69971" y="2373511"/>
            <a:ext cx="6223638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Customer Shopping Behavior Analysis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5269971" y="3846016"/>
            <a:ext cx="62236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Analysis of 3,900 transactions to reveal spending patterns, segments, product preferences, and subscription behavior for strategic decisions.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1423491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Dataset Snapshot</a:t>
            </a:r>
            <a:endParaRPr lang="en-US" sz="3650" dirty="0"/>
          </a:p>
        </p:txBody>
      </p:sp>
      <p:sp>
        <p:nvSpPr>
          <p:cNvPr id="4" name="Shape 1"/>
          <p:cNvSpPr/>
          <p:nvPr/>
        </p:nvSpPr>
        <p:spPr>
          <a:xfrm>
            <a:off x="698086" y="2309316"/>
            <a:ext cx="3012107" cy="1782068"/>
          </a:xfrm>
          <a:prstGeom prst="roundRect">
            <a:avLst>
              <a:gd name="adj" fmla="val 470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03860" y="2515096"/>
            <a:ext cx="260055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Rows &amp; Columns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03860" y="2928045"/>
            <a:ext cx="260055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3,900 rows · 18 columns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3909617" y="2309316"/>
            <a:ext cx="3012107" cy="1782068"/>
          </a:xfrm>
          <a:prstGeom prst="roundRect">
            <a:avLst>
              <a:gd name="adj" fmla="val 470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5392" y="2515096"/>
            <a:ext cx="260055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Key Features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5392" y="2928045"/>
            <a:ext cx="2600558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Demographics, purchase details, behavior, shipping, discounts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98086" y="4290814"/>
            <a:ext cx="6223638" cy="1143695"/>
          </a:xfrm>
          <a:prstGeom prst="roundRect">
            <a:avLst>
              <a:gd name="adj" fmla="val 7325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3860" y="4496594"/>
            <a:ext cx="5812089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Missing Data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03860" y="4909542"/>
            <a:ext cx="5812089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37 missing values in Review Rating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30125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Data Preparation (Python)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3073896"/>
            <a:ext cx="5154484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Loaded with pandas, used df.info() and .describe(). Imputed Review Rating by product-category median. Standardized column names to snake_case. Engineered age_group and purchase_frequency_days. Dropped promo_code_used as redundant. Loaded cleaned data into PostgreSQL.</a:t>
            </a:r>
            <a:endParaRPr lang="en-US" sz="1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476" y="2411413"/>
            <a:ext cx="5154484" cy="29209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69971" y="568523"/>
            <a:ext cx="6223638" cy="5591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kern="0" spc="-3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SQL: Revenue &amp; Segments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5269971" y="1562497"/>
            <a:ext cx="2879951" cy="148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Key SQL findings from PostgreSQL to answer business questions about revenue, discounts, product ratings, shipping, subscriptions, and segments.</a:t>
            </a:r>
            <a:endParaRPr lang="en-US" sz="1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20009" y="1603276"/>
            <a:ext cx="475246" cy="47525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321765" y="1603276"/>
            <a:ext cx="2178194" cy="279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0" spc="-3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Revenue by Gender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9321765" y="2063948"/>
            <a:ext cx="2178194" cy="593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Male: 157,890 · Female: 75,191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0009" y="3020219"/>
            <a:ext cx="475246" cy="47525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321765" y="3020219"/>
            <a:ext cx="2178194" cy="279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0" spc="-3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Customer Segments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9321765" y="3480891"/>
            <a:ext cx="2178194" cy="593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Loyal: 3,116 · Returning: 701 · New: 83</a:t>
            </a:r>
            <a:endParaRPr lang="en-US" sz="14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20009" y="4437162"/>
            <a:ext cx="475246" cy="47525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321765" y="4437162"/>
            <a:ext cx="2178194" cy="279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0" spc="-3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Subscribers vs Non</a:t>
            </a:r>
            <a:endParaRPr lang="en-US" sz="1750" dirty="0"/>
          </a:p>
        </p:txBody>
      </p:sp>
      <p:sp>
        <p:nvSpPr>
          <p:cNvPr id="13" name="Text 7"/>
          <p:cNvSpPr/>
          <p:nvPr/>
        </p:nvSpPr>
        <p:spPr>
          <a:xfrm>
            <a:off x="9321765" y="4897834"/>
            <a:ext cx="2178194" cy="1187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Yes: 1,053 customers (avg $59.49, revenue 62,645). No: 2,847 (avg $59.87, revenue 170,436).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821829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Product &amp; Rating Insights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2505373"/>
            <a:ext cx="3462152" cy="273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400"/>
              </a:spcAft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Top 5 products by average rating: Gloves (3.86), Sandals (3.84), Boots (3.82), Hat (3.80), Skirt (3.78).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Top products by category (sample): Accessories—Jewelry, Sunglasses, Belt. Clothing—Blouse, Pants, Shirt. Footwear—Sandals, Shoes, Sneakers. Outerwear—Jacket, Coat.</a:t>
            </a:r>
            <a:endParaRPr lang="en-US" sz="1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144" y="1931988"/>
            <a:ext cx="6846716" cy="387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141512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Discount &amp; Purchase Behavior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2550418"/>
            <a:ext cx="4590340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839 rows of discount users who still spent above average. Top discount-dependent items by discount rate: Hat (50%), Sneakers (49.66%), Coat (49.07%), Sweater (48.17%), Pants (47.37).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98086" y="4051498"/>
            <a:ext cx="4590340" cy="1096963"/>
          </a:xfrm>
          <a:prstGeom prst="roundRect">
            <a:avLst>
              <a:gd name="adj" fmla="val 7638"/>
            </a:avLst>
          </a:prstGeom>
          <a:solidFill>
            <a:srgbClr val="D8E7F3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10" y="4354810"/>
            <a:ext cx="249330" cy="1994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6266" y="4280793"/>
            <a:ext cx="374273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Review discount policy to balance sales lift and margins.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332" y="2251670"/>
            <a:ext cx="5718528" cy="32404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821829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Shipping &amp; Spending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931988"/>
            <a:ext cx="6846716" cy="38798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37708" y="2651026"/>
            <a:ext cx="346215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Shipping Comparison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037708" y="3143746"/>
            <a:ext cx="3462152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Average purchase — Standard: $58.46 · Express: $60.48.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037708" y="3981549"/>
            <a:ext cx="346215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Payment &amp; Frequency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037708" y="4474270"/>
            <a:ext cx="3462152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Most used: PayPal. Common cadence: Every 3 Months.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34802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Age Groups: Sales &amp; Revenue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744960"/>
            <a:ext cx="5154484" cy="3710285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476" y="1744960"/>
            <a:ext cx="5154484" cy="371028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98086" y="5903913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Target marketing and product positioning toward high-revenue age groups (Young Adult, Middle Aged).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88076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Dashboard Preview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2650133"/>
            <a:ext cx="3462152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Interactive Power BI dashboard summarizing KPIs, filters (Subscription Status, Gender, Category, Shipping Type), and charts for quick exploration.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98086" y="4106366"/>
            <a:ext cx="3462152" cy="109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Customers: 3.9K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Avg Purchase: $59.76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Avg Review Rating: 3.75</a:t>
            </a:r>
            <a:endParaRPr lang="en-US" sz="155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94777" y="1990923"/>
            <a:ext cx="6563450" cy="37619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44426"/>
            <a:ext cx="10795524" cy="549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kern="0" spc="-29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Business Recommendations</a:t>
            </a:r>
            <a:endParaRPr lang="en-US" sz="3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1545034"/>
            <a:ext cx="2567320" cy="25289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12006" y="1757362"/>
            <a:ext cx="2041077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29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Boost Subscriptions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12006" y="2137569"/>
            <a:ext cx="2041077" cy="1159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Promote exclusive subscriber benefits to increase adoption and lifetime value.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40721" y="1545034"/>
            <a:ext cx="2567419" cy="252898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754641" y="1757362"/>
            <a:ext cx="2041176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29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Customer Loyalty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3754641" y="2137569"/>
            <a:ext cx="2041176" cy="8694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Reward repeat buyers to grow the Loyal segment (3,116 customers).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83455" y="1545034"/>
            <a:ext cx="2567419" cy="252898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497376" y="1757362"/>
            <a:ext cx="2041176" cy="550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29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Review Discount Policy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6497376" y="2412603"/>
            <a:ext cx="2041176" cy="1449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Balance discount-driven volume with margin preservation; focus on high discount-rate products.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6190" y="1545034"/>
            <a:ext cx="2567419" cy="252898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240110" y="1757362"/>
            <a:ext cx="2041176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29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Product Positioning</a:t>
            </a:r>
            <a:endParaRPr lang="en-US" sz="1700" dirty="0"/>
          </a:p>
        </p:txBody>
      </p:sp>
      <p:sp>
        <p:nvSpPr>
          <p:cNvPr id="14" name="Text 8"/>
          <p:cNvSpPr/>
          <p:nvPr/>
        </p:nvSpPr>
        <p:spPr>
          <a:xfrm>
            <a:off x="9240110" y="2137569"/>
            <a:ext cx="2041176" cy="1159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Highlight top-rated and best-selling items (e.g., Gloves, Sandals, Jewelry, Blouse) in campaigns.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086" y="4249341"/>
            <a:ext cx="2567320" cy="196413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12006" y="4461669"/>
            <a:ext cx="2041077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29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Targeted Marketing</a:t>
            </a:r>
            <a:endParaRPr lang="en-US" sz="1700" dirty="0"/>
          </a:p>
        </p:txBody>
      </p:sp>
      <p:sp>
        <p:nvSpPr>
          <p:cNvPr id="17" name="Text 10"/>
          <p:cNvSpPr/>
          <p:nvPr/>
        </p:nvSpPr>
        <p:spPr>
          <a:xfrm>
            <a:off x="1012006" y="4841875"/>
            <a:ext cx="2041077" cy="1159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Focus on high-revenue age groups and express-shipping users for personalized promotions.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499</Words>
  <Application>Microsoft Office PowerPoint</Application>
  <PresentationFormat>Widescreen</PresentationFormat>
  <Paragraphs>58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Funnel Display</vt:lpstr>
      <vt:lpstr>Funnel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Arin Sharma</dc:creator>
  <cp:lastModifiedBy>Arin Sharma</cp:lastModifiedBy>
  <cp:revision>2</cp:revision>
  <dcterms:created xsi:type="dcterms:W3CDTF">2026-09-08T18:43:07Z</dcterms:created>
  <dcterms:modified xsi:type="dcterms:W3CDTF">2026-09-08T18:47:35Z</dcterms:modified>
</cp:coreProperties>
</file>